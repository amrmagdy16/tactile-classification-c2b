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4e9a6b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65a82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2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Magnitude</c:v>
                </c:pt>
                <c:pt idx="1">
                  <c:v>Shape</c:v>
                </c:pt>
                <c:pt idx="2">
                  <c:v>Spatial</c:v>
                </c:pt>
                <c:pt idx="3">
                  <c:v>All features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42.8</c:v>
                </c:pt>
                <c:pt idx="1">
                  <c:v>26.2</c:v>
                </c:pt>
                <c:pt idx="2">
                  <c:v>65.5</c:v>
                </c:pt>
                <c:pt idx="3">
                  <c:v>71</c:v>
                </c:pt>
              </c:numCache>
            </c:numRef>
          </c:val>
        </c:ser>
        <c:gapWidth val="150"/>
        <c:overlap val="0"/>
        <c:axId val="70278251"/>
        <c:axId val="19328493"/>
      </c:barChart>
      <c:catAx>
        <c:axId val="7027825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19328493"/>
        <c:crosses val="autoZero"/>
        <c:auto val="1"/>
        <c:lblAlgn val="ctr"/>
        <c:lblOffset val="100"/>
        <c:noMultiLvlLbl val="0"/>
      </c:catAx>
      <c:valAx>
        <c:axId val="19328493"/>
        <c:scaling>
          <c:orientation val="minMax"/>
          <c:max val="80"/>
          <c:min val="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7027825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Deformation only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press</c:v>
                </c:pt>
                <c:pt idx="1">
                  <c:v>airhold</c:v>
                </c:pt>
                <c:pt idx="2">
                  <c:v>all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67.5</c:v>
                </c:pt>
                <c:pt idx="1">
                  <c:v>68</c:v>
                </c:pt>
                <c:pt idx="2">
                  <c:v>62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Shear only</c:v>
                </c:pt>
              </c:strCache>
            </c:strRef>
          </c:tx>
          <c:spPr>
            <a:solidFill>
              <a:srgbClr val="1c7293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press</c:v>
                </c:pt>
                <c:pt idx="1">
                  <c:v>airhold</c:v>
                </c:pt>
                <c:pt idx="2">
                  <c:v>all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65.5</c:v>
                </c:pt>
                <c:pt idx="1">
                  <c:v>62.5</c:v>
                </c:pt>
                <c:pt idx="2">
                  <c:v>55.5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Fused</c:v>
                </c:pt>
              </c:strCache>
            </c:strRef>
          </c:tx>
          <c:spPr>
            <a:solidFill>
              <a:srgbClr val="4e9a6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press</c:v>
                </c:pt>
                <c:pt idx="1">
                  <c:v>airhold</c:v>
                </c:pt>
                <c:pt idx="2">
                  <c:v>all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74.5</c:v>
                </c:pt>
                <c:pt idx="1">
                  <c:v>72.5</c:v>
                </c:pt>
                <c:pt idx="2">
                  <c:v>71</c:v>
                </c:pt>
              </c:numCache>
            </c:numRef>
          </c:val>
        </c:ser>
        <c:gapWidth val="150"/>
        <c:overlap val="0"/>
        <c:axId val="38682110"/>
        <c:axId val="47146569"/>
      </c:barChart>
      <c:catAx>
        <c:axId val="3868211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47146569"/>
        <c:crosses val="autoZero"/>
        <c:auto val="1"/>
        <c:lblAlgn val="ctr"/>
        <c:lblOffset val="100"/>
        <c:noMultiLvlLbl val="0"/>
      </c:catAx>
      <c:valAx>
        <c:axId val="47146569"/>
        <c:scaling>
          <c:orientation val="minMax"/>
          <c:max val="85"/>
          <c:min val="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3868211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64748b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Honest accuracy (all, 10 materials)</c:v>
                </c:pt>
              </c:strCache>
            </c:strRef>
          </c:tx>
          <c:spPr>
            <a:solidFill>
              <a:srgbClr val="6b8497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6b8497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6b8497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65a82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21b0a6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1" sz="12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2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Classical SVM</c:v>
                </c:pt>
                <c:pt idx="1">
                  <c:v>Baseline CNN-LSTM</c:v>
                </c:pt>
                <c:pt idx="2">
                  <c:v>Attention (honest)</c:v>
                </c:pt>
                <c:pt idx="3">
                  <c:v>+ Label smoothing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71</c:v>
                </c:pt>
                <c:pt idx="1">
                  <c:v>71</c:v>
                </c:pt>
                <c:pt idx="2">
                  <c:v>79.2</c:v>
                </c:pt>
                <c:pt idx="3">
                  <c:v>82.8</c:v>
                </c:pt>
              </c:numCache>
            </c:numRef>
          </c:val>
        </c:ser>
        <c:gapWidth val="150"/>
        <c:overlap val="0"/>
        <c:axId val="76838595"/>
        <c:axId val="59377564"/>
      </c:barChart>
      <c:catAx>
        <c:axId val="7683859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59377564"/>
        <c:crosses val="autoZero"/>
        <c:auto val="1"/>
        <c:lblAlgn val="ctr"/>
        <c:lblOffset val="100"/>
        <c:noMultiLvlLbl val="0"/>
      </c:catAx>
      <c:valAx>
        <c:axId val="59377564"/>
        <c:scaling>
          <c:orientation val="minMax"/>
          <c:max val="95"/>
          <c:min val="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7683859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Honest test accuracy</c:v>
                </c:pt>
              </c:strCache>
            </c:strRef>
          </c:tx>
          <c:spPr>
            <a:solidFill>
              <a:srgbClr val="4e9a6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4e9a6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4e9a6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4e9a6b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9db0bc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c0504d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Label smooth</c:v>
                </c:pt>
                <c:pt idx="1">
                  <c:v>Combined</c:v>
                </c:pt>
                <c:pt idx="2">
                  <c:v>Weight decay</c:v>
                </c:pt>
                <c:pt idx="3">
                  <c:v>Augment-safe</c:v>
                </c:pt>
                <c:pt idx="4">
                  <c:v>Small model</c:v>
                </c:pt>
                <c:pt idx="5">
                  <c:v>+Translate</c:v>
                </c:pt>
                <c:pt idx="6">
                  <c:v>Crop window</c:v>
                </c:pt>
                <c:pt idx="7">
                  <c:v>Augment-aggr.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82.8</c:v>
                </c:pt>
                <c:pt idx="1">
                  <c:v>80.5</c:v>
                </c:pt>
                <c:pt idx="2">
                  <c:v>79.8</c:v>
                </c:pt>
                <c:pt idx="3">
                  <c:v>78.5</c:v>
                </c:pt>
                <c:pt idx="4">
                  <c:v>75.5</c:v>
                </c:pt>
                <c:pt idx="5">
                  <c:v>75.5</c:v>
                </c:pt>
                <c:pt idx="6">
                  <c:v>74.8</c:v>
                </c:pt>
                <c:pt idx="7">
                  <c:v>74</c:v>
                </c:pt>
              </c:numCache>
            </c:numRef>
          </c:val>
        </c:ser>
        <c:gapWidth val="150"/>
        <c:overlap val="0"/>
        <c:axId val="64967466"/>
        <c:axId val="6007127"/>
      </c:barChart>
      <c:catAx>
        <c:axId val="6496746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6007127"/>
        <c:crosses val="autoZero"/>
        <c:auto val="1"/>
        <c:lblAlgn val="ctr"/>
        <c:lblOffset val="100"/>
        <c:noMultiLvlLbl val="0"/>
      </c:catAx>
      <c:valAx>
        <c:axId val="6007127"/>
        <c:scaling>
          <c:orientation val="minMax"/>
          <c:max val="90"/>
          <c:min val="6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6496746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A67E2FB-819C-414B-A76F-3862BDCF466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8BBC70-C262-4B8B-9084-5612FFC85F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C9B948-F8D7-47E9-AFE0-AE9545213D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BD56D7-BA75-4885-8369-30E5B2264E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09DE4F-DD57-4D8B-AEDD-78A4ED06A8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E224AB-BB96-46BE-9808-648865170E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F2CDD0-520F-40EA-A750-C9BBAC74A5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2B629D-5F27-40C4-95F1-FBAF83A0F5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714121-E99D-44BC-8240-0842BC0CF6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DAE551-182A-4C5D-A7E7-C097076B0C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910C8C-A3D0-4932-B34F-2351103247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09CD7-B1F7-4073-A913-320954908F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C4EC12-B68E-4CA1-94FC-F77C5823F6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412480" y="-1463040"/>
            <a:ext cx="5943240" cy="59432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509760" y="-365760"/>
            <a:ext cx="3748680" cy="3748680"/>
          </a:xfrm>
          <a:prstGeom prst="ellipse">
            <a:avLst/>
          </a:prstGeom>
          <a:solidFill>
            <a:srgbClr val="1c7293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332720" y="457200"/>
            <a:ext cx="2102760" cy="2102760"/>
          </a:xfrm>
          <a:prstGeom prst="ellipse">
            <a:avLst/>
          </a:prstGeom>
          <a:solidFill>
            <a:srgbClr val="21b0a6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12801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21b0a6"/>
                </a:solidFill>
                <a:latin typeface="Arial"/>
                <a:ea typeface="Arial"/>
              </a:rPr>
              <a:t>RESEARCH TRACK II  ·  COGAR ASSIGNMENT C2b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828800"/>
            <a:ext cx="9692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mbria"/>
                <a:ea typeface="Cambria"/>
              </a:rPr>
              <a:t>Does Fusing Deformation and Shear Improve Tactile Material Classification?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36118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cfe3ee"/>
                </a:solidFill>
                <a:latin typeface="Cambria"/>
                <a:ea typeface="Cambria"/>
              </a:rPr>
              <a:t>An ablation study under contact-condition variability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4937760"/>
            <a:ext cx="10058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Amr Magdy Mohamed Elsayed Abdalla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1b0a6"/>
                </a:solidFill>
                <a:latin typeface="Arial"/>
                <a:ea typeface="Arial"/>
              </a:rPr>
              <a:t>S8082888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cfe3ee"/>
                </a:solidFill>
                <a:latin typeface="Arial"/>
                <a:ea typeface="Arial"/>
              </a:rPr>
              <a:t>DIBRIS, University of Genoa  · PROFESSOR MASTROGIOVANNI FULVIO , G. Galvagni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INTRODUCTION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Why touch — and the research question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48640" y="1600200"/>
            <a:ext cx="5486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2d4a"/>
                </a:solidFill>
                <a:latin typeface="Calibri"/>
                <a:ea typeface="Calibri"/>
              </a:rPr>
              <a:t>Vision fails on look-alikes.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Two objects can look identical yet differ in stiffness, texture, or compliance. Touch reveals the </a:t>
            </a:r>
            <a:r>
              <a:rPr b="0" i="1" lang="en-US" sz="1600" spc="-1" strike="noStrike">
                <a:solidFill>
                  <a:srgbClr val="1c7293"/>
                </a:solidFill>
                <a:latin typeface="Calibri"/>
                <a:ea typeface="Calibri"/>
              </a:rPr>
              <a:t>mechanical response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 of a contact, independent of appearance.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30632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8497"/>
                </a:solidFill>
                <a:latin typeface="Calibri"/>
                <a:ea typeface="Calibri"/>
              </a:rPr>
              <a:t>A vision-based tactile sensor exposes two physical channels: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48640" y="3474720"/>
            <a:ext cx="548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Deformation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normal/vertical displacement → contact geometry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Shear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lateral/tangential displacement → tangential force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6400800" y="1554480"/>
            <a:ext cx="5211720" cy="4023000"/>
          </a:xfrm>
          <a:prstGeom prst="roundRect">
            <a:avLst>
              <a:gd name="adj" fmla="val 1818"/>
            </a:avLst>
          </a:prstGeom>
          <a:solidFill>
            <a:srgbClr val="0f2d4a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6720840" y="1828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1b0a6"/>
                </a:solidFill>
                <a:latin typeface="Arial"/>
                <a:ea typeface="Arial"/>
              </a:rPr>
              <a:t>RESEARCH QUESTION  (PICO)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720840" y="2286000"/>
            <a:ext cx="4617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fe3ee"/>
                </a:solidFill>
                <a:latin typeface="Cambria"/>
                <a:ea typeface="Cambria"/>
              </a:rPr>
              <a:t>Does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fusing deformation + shear </a:t>
            </a:r>
            <a:r>
              <a:rPr b="0" lang="en-US" sz="1800" spc="-1" strike="noStrike">
                <a:solidFill>
                  <a:srgbClr val="cfe3ee"/>
                </a:solidFill>
                <a:latin typeface="Cambria"/>
                <a:ea typeface="Cambria"/>
              </a:rPr>
              <a:t>improve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classification accuracy </a:t>
            </a:r>
            <a:r>
              <a:rPr b="0" lang="en-US" sz="1800" spc="-1" strike="noStrike">
                <a:solidFill>
                  <a:srgbClr val="cfe3ee"/>
                </a:solidFill>
                <a:latin typeface="Cambria"/>
                <a:ea typeface="Cambria"/>
              </a:rPr>
              <a:t>on everyday objects, compared to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either modality alone</a:t>
            </a:r>
            <a:r>
              <a:rPr b="0" lang="en-US" sz="1800" spc="-1" strike="noStrike">
                <a:solidFill>
                  <a:srgbClr val="cfe3ee"/>
                </a:solidFill>
                <a:latin typeface="Cambria"/>
                <a:ea typeface="Cambria"/>
              </a:rPr>
              <a:t> — and how robustly as contact conditions vary?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720840" y="429768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1b0a6"/>
                </a:solidFill>
                <a:latin typeface="Calibri"/>
                <a:ea typeface="Calibri"/>
              </a:rPr>
              <a:t>H1 </a:t>
            </a: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fusion &gt; best single modality     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1b0a6"/>
                </a:solidFill>
                <a:latin typeface="Calibri"/>
                <a:ea typeface="Calibri"/>
              </a:rPr>
              <a:t>H2 </a:t>
            </a: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advantage persists as variability grows     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1b0a6"/>
                </a:solidFill>
                <a:latin typeface="Calibri"/>
                <a:ea typeface="Calibri"/>
              </a:rPr>
              <a:t>H3 </a:t>
            </a: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each modality fails on a predictable subset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LITERATURE ANALYSIS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Four works — from sensing principles to SOTA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548640" y="169164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777240" y="192024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77724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749880" y="2560320"/>
            <a:ext cx="2294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2d4a"/>
                </a:solidFill>
                <a:latin typeface="Cambria"/>
                <a:ea typeface="Cambria"/>
              </a:rPr>
              <a:t>GelSight (2017)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749880" y="3154680"/>
            <a:ext cx="2294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065a82"/>
                </a:solidFill>
                <a:latin typeface="Arial"/>
                <a:ea typeface="Arial"/>
              </a:rPr>
              <a:t>FOUNDATION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49880" y="3520440"/>
            <a:ext cx="22946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44444"/>
                </a:solidFill>
                <a:latin typeface="Calibri"/>
                <a:ea typeface="Calibri"/>
              </a:rPr>
              <a:t>Elastomer deformation = geometry; marker motion ∝ force. Grounds our two channels.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3364920" y="169164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3593520" y="192024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359352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3566160" y="2560320"/>
            <a:ext cx="2294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2d4a"/>
                </a:solidFill>
                <a:latin typeface="Cambria"/>
                <a:ea typeface="Cambria"/>
              </a:rPr>
              <a:t>Amin et al. (2023)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3566160" y="3154680"/>
            <a:ext cx="2294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1c7293"/>
                </a:solidFill>
                <a:latin typeface="Arial"/>
                <a:ea typeface="Arial"/>
              </a:rPr>
              <a:t>LAB / PIPELINE PRECEDENT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3566160" y="3520440"/>
            <a:ext cx="22946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44444"/>
                </a:solidFill>
                <a:latin typeface="Calibri"/>
                <a:ea typeface="Calibri"/>
              </a:rPr>
              <a:t>Same lab &amp; Baxter; SVM/SLFNN/CNN on hardness. But PVDF pressure, and mean/std features.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6181200" y="169164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6409800" y="1920240"/>
            <a:ext cx="502560" cy="502560"/>
          </a:xfrm>
          <a:prstGeom prst="ellipse">
            <a:avLst/>
          </a:prstGeom>
          <a:solidFill>
            <a:srgbClr val="21b0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40980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6382440" y="2560320"/>
            <a:ext cx="2294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2d4a"/>
                </a:solidFill>
                <a:latin typeface="Cambria"/>
                <a:ea typeface="Cambria"/>
              </a:rPr>
              <a:t>Liao et al. (2025)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6382440" y="3154680"/>
            <a:ext cx="2294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21b0a6"/>
                </a:solidFill>
                <a:latin typeface="Arial"/>
                <a:ea typeface="Arial"/>
              </a:rPr>
              <a:t>SENSOR REFERENCE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6382440" y="3520440"/>
            <a:ext cx="22946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44444"/>
                </a:solidFill>
                <a:latin typeface="Calibri"/>
                <a:ea typeface="Calibri"/>
              </a:rPr>
              <a:t>Daimon DM-Tac; hardness from normal-force dynamics — decomposes shear but discards it.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8997840" y="169164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9226440" y="1920240"/>
            <a:ext cx="502560" cy="502560"/>
          </a:xfrm>
          <a:prstGeom prst="ellipse">
            <a:avLst/>
          </a:prstGeom>
          <a:solidFill>
            <a:srgbClr val="5b7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922644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9198720" y="2560320"/>
            <a:ext cx="2294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2d4a"/>
                </a:solidFill>
                <a:latin typeface="Cambria"/>
                <a:ea typeface="Cambria"/>
              </a:rPr>
              <a:t>FG-CLTP (2025)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9198720" y="3154680"/>
            <a:ext cx="2294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5b7b9a"/>
                </a:solidFill>
                <a:latin typeface="Arial"/>
                <a:ea typeface="Arial"/>
              </a:rPr>
              <a:t>SOTA CEILING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9198720" y="3520440"/>
            <a:ext cx="22946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44444"/>
                </a:solidFill>
                <a:latin typeface="Calibri"/>
                <a:ea typeface="Calibri"/>
              </a:rPr>
              <a:t>Contrastive language–tactile pretraining; quantitative contact states beat texture labels (95.9%).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548640" y="54406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1c7293"/>
                </a:solidFill>
                <a:latin typeface="Calibri"/>
                <a:ea typeface="Calibri"/>
              </a:rPr>
              <a:t>Our position: the only study using deformation+shear as a fused modality, with the controlled single-vs-fused ablation none of the four perform.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METHODOLOGICAL PROPOSAL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Sensor, data, and an honest pipeline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48640" y="173736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82296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1645920" y="196596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2d4a"/>
                </a:solidFill>
                <a:latin typeface="Cambria"/>
                <a:ea typeface="Cambria"/>
              </a:rPr>
              <a:t>Sensor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645920" y="23958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Daimon WS vision-based tactile sensor. Per frame: deformation + shear fields → (T, 30×40, 4).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6217920" y="173736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6492240" y="205740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7315200" y="196596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2d4a"/>
                </a:solidFill>
                <a:latin typeface="Cambria"/>
                <a:ea typeface="Cambria"/>
              </a:rPr>
              <a:t>Dataset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7315200" y="23958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10 materials (rigid, compliant, textured) × 2 contact modes × 20 trials. Hand-collected, release-gated.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548640" y="352044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822960" y="3840480"/>
            <a:ext cx="639720" cy="639720"/>
          </a:xfrm>
          <a:prstGeom prst="ellipse">
            <a:avLst/>
          </a:prstGeom>
          <a:solidFill>
            <a:srgbClr val="21b0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1645920" y="37490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2d4a"/>
                </a:solidFill>
                <a:latin typeface="Cambria"/>
                <a:ea typeface="Cambria"/>
              </a:rPr>
              <a:t>Models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164592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Classical: SVM / RF / XGBoost on 30 features. Deep: CNN → BiLSTM → temporal self-attention.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6217920" y="352044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6492240" y="3840480"/>
            <a:ext cx="639720" cy="639720"/>
          </a:xfrm>
          <a:prstGeom prst="ellipse">
            <a:avLst/>
          </a:prstGeom>
          <a:solidFill>
            <a:srgbClr val="5b7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7315200" y="37490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2d4a"/>
                </a:solidFill>
                <a:latin typeface="Cambria"/>
                <a:ea typeface="Cambria"/>
              </a:rPr>
              <a:t>Honest eval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731520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5-fold CV; early stopping on an internal validation split — the test fold is never used for selection.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548640" y="54406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1c7293"/>
                </a:solidFill>
                <a:latin typeface="Calibri"/>
                <a:ea typeface="Calibri"/>
              </a:rPr>
              <a:t>Two contact modes are the variability axis: press (controlled) vs airhold (variable, stronger shear).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21b0a6"/>
                </a:solidFill>
                <a:latin typeface="Arial"/>
                <a:ea typeface="Arial"/>
              </a:rPr>
              <a:t>EXPERIMENT DESIGN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One constraint shaped the whole study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48640" y="1737360"/>
            <a:ext cx="5394600" cy="3840120"/>
          </a:xfrm>
          <a:prstGeom prst="roundRect">
            <a:avLst>
              <a:gd name="adj" fmla="val 1905"/>
            </a:avLst>
          </a:prstGeom>
          <a:solidFill>
            <a:srgbClr val="065a8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868680" y="20116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1b0a6"/>
                </a:solidFill>
                <a:latin typeface="Arial"/>
                <a:ea typeface="Arial"/>
              </a:rPr>
              <a:t>THE CONSTRAINT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868680" y="242316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Robot access was limited, so data were hand-collected. Applied force is therefore not constant — it is partially confounded with material identity.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868680" y="443484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cfe3ee"/>
                </a:solidFill>
                <a:latin typeface="Calibri"/>
                <a:ea typeface="Calibri"/>
              </a:rPr>
              <a:t>→ </a:t>
            </a:r>
            <a:r>
              <a:rPr b="0" i="1" lang="en-US" sz="1350" spc="-1" strike="noStrike">
                <a:solidFill>
                  <a:srgbClr val="cfe3ee"/>
                </a:solidFill>
                <a:latin typeface="Calibri"/>
                <a:ea typeface="Calibri"/>
              </a:rPr>
              <a:t>Results are validation-grade, not force-controlled-deployment-grade. We state this first, not last.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6217920" y="1737360"/>
            <a:ext cx="5394600" cy="384012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6537960" y="20116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Arial"/>
                <a:ea typeface="Arial"/>
              </a:rPr>
              <a:t>TURNED INTO AN ADVANTAGE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6537960" y="2423160"/>
            <a:ext cx="4754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two contact modes directly probe robustness to this variability: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press —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  <a:ea typeface="Calibri"/>
              </a:rPr>
              <a:t>a controlled, consistent contact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airhold —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  <a:ea typeface="Calibri"/>
              </a:rPr>
              <a:t>squeezed in the air: more variable, stronger shear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Comparing them tests H2 head-on.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RESULTS · FINDING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Material identity is geometric, not magnitude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5" name="Chart 0"/>
          <p:cNvGraphicFramePr/>
          <p:nvPr/>
        </p:nvGraphicFramePr>
        <p:xfrm>
          <a:off x="548640" y="1783080"/>
          <a:ext cx="603468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6" name="Shape 2"/>
          <p:cNvSpPr/>
          <p:nvPr/>
        </p:nvSpPr>
        <p:spPr>
          <a:xfrm>
            <a:off x="6858000" y="1920240"/>
            <a:ext cx="4754520" cy="3565800"/>
          </a:xfrm>
          <a:prstGeom prst="roundRect">
            <a:avLst>
              <a:gd name="adj" fmla="val 2051"/>
            </a:avLst>
          </a:prstGeom>
          <a:solidFill>
            <a:srgbClr val="cfe3e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7132320" y="2148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Arial"/>
                <a:ea typeface="Arial"/>
              </a:rPr>
              <a:t>WHY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7132320" y="2560320"/>
            <a:ext cx="42516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22222"/>
                </a:solidFill>
                <a:latin typeface="Calibri"/>
                <a:ea typeface="Calibri"/>
              </a:rPr>
              <a:t>Spatial footprint features reach 65.5% vs 42.8% for raw magnitude — a ~1.5× gap.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44444"/>
                </a:solidFill>
                <a:latin typeface="Calibri"/>
                <a:ea typeface="Calibri"/>
              </a:rPr>
              <a:t>Magnitude only says </a:t>
            </a:r>
            <a:r>
              <a:rPr b="0" i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how hard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  <a:ea typeface="Calibri"/>
              </a:rPr>
              <a:t>you pressed; the </a:t>
            </a:r>
            <a:r>
              <a:rPr b="0" i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shape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  <a:ea typeface="Calibri"/>
              </a:rPr>
              <a:t>of the contact says </a:t>
            </a:r>
            <a:r>
              <a:rPr b="0" i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what it is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RESULTS · FINDING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Fusion beats either modality alone — the answer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2" name="Chart 0"/>
          <p:cNvGraphicFramePr/>
          <p:nvPr/>
        </p:nvGraphicFramePr>
        <p:xfrm>
          <a:off x="548640" y="1783080"/>
          <a:ext cx="658332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3" name="Shape 2"/>
          <p:cNvSpPr/>
          <p:nvPr/>
        </p:nvSpPr>
        <p:spPr>
          <a:xfrm>
            <a:off x="7406640" y="1920240"/>
            <a:ext cx="4205880" cy="3565800"/>
          </a:xfrm>
          <a:prstGeom prst="roundRect">
            <a:avLst>
              <a:gd name="adj" fmla="val 2051"/>
            </a:avLst>
          </a:prstGeom>
          <a:solidFill>
            <a:srgbClr val="0f2d4a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7635240" y="224028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1b0a6"/>
                </a:solidFill>
                <a:latin typeface="Cambria"/>
                <a:ea typeface="Cambria"/>
              </a:rPr>
              <a:t>+4 to +9 pts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635240" y="306324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fusion over the best single modality, in every condition.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635240" y="4069080"/>
            <a:ext cx="3748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cfe3ee"/>
                </a:solidFill>
                <a:latin typeface="Calibri"/>
                <a:ea typeface="Calibri"/>
              </a:rPr>
              <a:t>Compliant &amp; textured materials (rubber, strawberry) activate the shear channel — confirming H1 &amp; H3.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RESULTS · FINDING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Temporal attention breaks the ceiling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Chart 0"/>
          <p:cNvGraphicFramePr/>
          <p:nvPr/>
        </p:nvGraphicFramePr>
        <p:xfrm>
          <a:off x="548640" y="1783080"/>
          <a:ext cx="640044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1" name="Shape 2"/>
          <p:cNvSpPr/>
          <p:nvPr/>
        </p:nvSpPr>
        <p:spPr>
          <a:xfrm>
            <a:off x="7223760" y="1920240"/>
            <a:ext cx="4388760" cy="3565800"/>
          </a:xfrm>
          <a:prstGeom prst="roundRect">
            <a:avLst>
              <a:gd name="adj" fmla="val 2051"/>
            </a:avLst>
          </a:prstGeom>
          <a:solidFill>
            <a:srgbClr val="cfe3e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7498080" y="2148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Arial"/>
                <a:ea typeface="Arial"/>
              </a:rPr>
              <a:t>WHAT IT MEANS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7498080" y="2560320"/>
            <a:ext cx="3885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  <a:ea typeface="Calibri"/>
              </a:rPr>
              <a:t>Four classical/baseline models converge at ~71%. </a:t>
            </a: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Temporal self-attention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  <a:ea typeface="Calibri"/>
              </a:rPr>
              <a:t> — re-weighting the loading sequence — lifts honest accuracy to ~80%.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A dual-branch variant added nothing → the gain is attention, not capacity.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21b0a6"/>
                </a:solidFill>
                <a:latin typeface="Arial"/>
                <a:ea typeface="Arial"/>
              </a:rPr>
              <a:t>RESULTS · FINDING 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Touch beats vision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548640" y="169164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fe3ee"/>
                </a:solidFill>
                <a:latin typeface="Calibri"/>
                <a:ea typeface="Calibri"/>
              </a:rPr>
              <a:t>Two PLA cubes — </a:t>
            </a: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visually identical</a:t>
            </a:r>
            <a:r>
              <a:rPr b="0" lang="en-US" sz="1700" spc="-1" strike="noStrike">
                <a:solidFill>
                  <a:srgbClr val="cfe3ee"/>
                </a:solidFill>
                <a:latin typeface="Calibri"/>
                <a:ea typeface="Calibri"/>
              </a:rPr>
              <a:t>, different stiffness.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914400" y="2377440"/>
            <a:ext cx="1462680" cy="146268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914400" y="38862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ee"/>
                </a:solidFill>
                <a:latin typeface="Arial"/>
                <a:ea typeface="Arial"/>
              </a:rPr>
              <a:t>pla_hard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2743200" y="2377440"/>
            <a:ext cx="1462680" cy="146268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2743200" y="38862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ee"/>
                </a:solidFill>
                <a:latin typeface="Arial"/>
                <a:ea typeface="Arial"/>
              </a:rPr>
              <a:t>pla_soft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914400" y="42519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8497"/>
                </a:solidFill>
                <a:latin typeface="Calibri"/>
                <a:ea typeface="Calibri"/>
              </a:rPr>
              <a:t>a camera cannot tell them apart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6035040" y="2103120"/>
            <a:ext cx="557748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6309360" y="2331720"/>
            <a:ext cx="2011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4e9a6b"/>
                </a:solidFill>
                <a:latin typeface="Cambria"/>
                <a:ea typeface="Cambria"/>
              </a:rPr>
              <a:t>0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6309360" y="36576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2d4a"/>
                </a:solidFill>
                <a:latin typeface="Calibri"/>
                <a:ea typeface="Calibri"/>
              </a:rPr>
              <a:t>cross-confusions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8503920" y="2468880"/>
            <a:ext cx="288000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33333"/>
                </a:solidFill>
                <a:latin typeface="Calibri"/>
                <a:ea typeface="Calibri"/>
              </a:rPr>
              <a:t>In the honest confusion matrix the PLA pair is </a:t>
            </a:r>
            <a:r>
              <a:rPr b="1" lang="en-US" sz="1450" spc="-1" strike="noStrike">
                <a:solidFill>
                  <a:srgbClr val="4e9a6b"/>
                </a:solidFill>
                <a:latin typeface="Calibri"/>
                <a:ea typeface="Calibri"/>
              </a:rPr>
              <a:t>essentially never</a:t>
            </a:r>
            <a:r>
              <a:rPr b="0" lang="en-US" sz="1450" spc="-1" strike="noStrike">
                <a:solidFill>
                  <a:srgbClr val="333333"/>
                </a:solidFill>
                <a:latin typeface="Calibri"/>
                <a:ea typeface="Calibri"/>
              </a:rPr>
              <a:t> mistaken for one another.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1c7293"/>
                </a:solidFill>
                <a:latin typeface="Calibri"/>
                <a:ea typeface="Calibri"/>
              </a:rPr>
              <a:t>The mechanical-response modality sees what vision physically cannot.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RESULTS · ROBUSTNESS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Nine configurations: the gap is data-limited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0" name="Chart 0"/>
          <p:cNvGraphicFramePr/>
          <p:nvPr/>
        </p:nvGraphicFramePr>
        <p:xfrm>
          <a:off x="548640" y="1783080"/>
          <a:ext cx="694908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1" name="Shape 2"/>
          <p:cNvSpPr/>
          <p:nvPr/>
        </p:nvSpPr>
        <p:spPr>
          <a:xfrm>
            <a:off x="7772400" y="1920240"/>
            <a:ext cx="3840120" cy="3657240"/>
          </a:xfrm>
          <a:prstGeom prst="roundRect">
            <a:avLst>
              <a:gd name="adj" fmla="val 2000"/>
            </a:avLst>
          </a:prstGeom>
          <a:solidFill>
            <a:srgbClr val="0f2d4a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8001000" y="219456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1b0a6"/>
                </a:solidFill>
                <a:latin typeface="Cambria"/>
                <a:ea typeface="Cambria"/>
              </a:rPr>
              <a:t>~80% ± 5–6%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001000" y="2788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fe3ee"/>
                </a:solidFill>
                <a:latin typeface="Calibri"/>
                <a:ea typeface="Calibri"/>
              </a:rPr>
              <a:t>honest reported band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8001000" y="3200400"/>
            <a:ext cx="3382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Only gentle output regularization helps. </a:t>
            </a: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Capacity cuts, cropping and augmentation are neutral or harmful — and the train–test gap stays ~+14% throughout.</a:t>
            </a:r>
            <a:r>
              <a:rPr b="1" lang="en-US" sz="1300" spc="-1" strike="noStrike">
                <a:solidFill>
                  <a:srgbClr val="21b0a6"/>
                </a:solidFill>
                <a:latin typeface="Calibri"/>
                <a:ea typeface="Calibri"/>
              </a:rPr>
              <a:t> The binding limit is data quantity, not the model.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4864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1c7293"/>
                </a:solidFill>
                <a:latin typeface="Arial"/>
                <a:ea typeface="Arial"/>
              </a:rPr>
              <a:t>DISCUSSION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48640" y="640080"/>
            <a:ext cx="11063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d4a"/>
                </a:solidFill>
                <a:latin typeface="Cambria"/>
                <a:ea typeface="Cambria"/>
              </a:rPr>
              <a:t>Limitations &amp; future work — stated honestly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548640" y="1737360"/>
            <a:ext cx="58518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777240" y="1920240"/>
            <a:ext cx="411120" cy="411120"/>
          </a:xfrm>
          <a:prstGeom prst="ellips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1371600" y="18471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2d4a"/>
                </a:solidFill>
                <a:latin typeface="Cambria"/>
                <a:ea typeface="Cambria"/>
              </a:rPr>
              <a:t>Force confound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371600" y="21398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Hand collection leaves applied force entangled with identity — the dominant limit.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548640" y="2633400"/>
            <a:ext cx="58518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777240" y="2816280"/>
            <a:ext cx="411120" cy="411120"/>
          </a:xfrm>
          <a:prstGeom prst="ellips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1371600" y="27432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2d4a"/>
                </a:solidFill>
                <a:latin typeface="Cambria"/>
                <a:ea typeface="Cambria"/>
              </a:rPr>
              <a:t>Small data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1371600" y="30358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~20 trials/class → ±5–6% fold variance and a ~14% train–test gap.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548640" y="3529440"/>
            <a:ext cx="58518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777240" y="3712320"/>
            <a:ext cx="411120" cy="411120"/>
          </a:xfrm>
          <a:prstGeom prst="ellipse">
            <a:avLst/>
          </a:prstGeom>
          <a:solidFill>
            <a:srgbClr val="c89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1371600" y="36392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2d4a"/>
                </a:solidFill>
                <a:latin typeface="Cambria"/>
                <a:ea typeface="Cambria"/>
              </a:rPr>
              <a:t>Augmentation is narrow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1371600" y="39319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Label lives in geometry+magnitude: rotation, scaling, even ±1px shift corrupt it.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548640" y="4425840"/>
            <a:ext cx="58518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777240" y="4608720"/>
            <a:ext cx="411120" cy="411120"/>
          </a:xfrm>
          <a:prstGeom prst="ellipse">
            <a:avLst/>
          </a:prstGeom>
          <a:solidFill>
            <a:srgbClr val="c89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1371600" y="45352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2d4a"/>
                </a:solidFill>
                <a:latin typeface="Cambria"/>
                <a:ea typeface="Cambria"/>
              </a:rPr>
              <a:t>Offline only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1371600" y="48279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Single sensor/operator; no on-robot deployment result yet.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6675120" y="1737360"/>
            <a:ext cx="4937400" cy="3611520"/>
          </a:xfrm>
          <a:prstGeom prst="roundRect">
            <a:avLst>
              <a:gd name="adj" fmla="val 2025"/>
            </a:avLst>
          </a:prstGeom>
          <a:solidFill>
            <a:srgbClr val="cfe3e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9"/>
          <p:cNvSpPr/>
          <p:nvPr/>
        </p:nvSpPr>
        <p:spPr>
          <a:xfrm>
            <a:off x="69494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Arial"/>
                <a:ea typeface="Arial"/>
              </a:rPr>
              <a:t>FUTURE 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6949440" y="2377440"/>
            <a:ext cx="43887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2d4a"/>
                </a:solidFill>
                <a:latin typeface="Calibri"/>
                <a:ea typeface="Calibri"/>
              </a:rPr>
              <a:t>Constant-force robotic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Calibri"/>
              </a:rPr>
              <a:t>removes the confound that caps accuracy.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2d4a"/>
                </a:solidFill>
                <a:latin typeface="Calibri"/>
                <a:ea typeface="Calibri"/>
              </a:rPr>
              <a:t>More trials per class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Calibri"/>
              </a:rPr>
              <a:t>the one intervention that closes the gap.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2d4a"/>
                </a:solidFill>
                <a:latin typeface="Calibri"/>
                <a:ea typeface="Calibri"/>
              </a:rPr>
              <a:t>On-robot deployment 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Calibri"/>
              </a:rPr>
              <a:t>train-on-hand → deploy-on-Baxter transfer.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2d4a"/>
                </a:solidFill>
                <a:latin typeface="Calibri"/>
                <a:ea typeface="Calibri"/>
              </a:rPr>
              <a:t>Richer 3D / contrastive pretraining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Calibri"/>
              </a:rPr>
              <a:t>toward the FG-CLTP frontier.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116128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497"/>
                </a:solidFill>
                <a:latin typeface="Arial"/>
                <a:ea typeface="Arial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-1371600" y="3200400"/>
            <a:ext cx="5943240" cy="59432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-274320" y="4297680"/>
            <a:ext cx="3748680" cy="3748680"/>
          </a:xfrm>
          <a:prstGeom prst="ellipse">
            <a:avLst/>
          </a:prstGeom>
          <a:solidFill>
            <a:srgbClr val="1c7293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640080" y="7315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21b0a6"/>
                </a:solidFill>
                <a:latin typeface="Arial"/>
                <a:ea typeface="Arial"/>
              </a:rPr>
              <a:t>CONCLUSION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640080" y="1280160"/>
            <a:ext cx="10789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Cambria"/>
                <a:ea typeface="Cambria"/>
              </a:rPr>
              <a:t>Fusing deformation and shear, and modeling the loading dynamics with attention, separates materials touch can distinguish but vision cannot.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640080" y="3291840"/>
            <a:ext cx="3428640" cy="155412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822960" y="347472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b0a6"/>
                </a:solidFill>
                <a:latin typeface="Cambria"/>
                <a:ea typeface="Cambria"/>
              </a:rPr>
              <a:t>+4–9 pts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822960" y="42519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fusion over single modality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4343400" y="3291840"/>
            <a:ext cx="3428640" cy="155412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4526280" y="347472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b0a6"/>
                </a:solidFill>
                <a:latin typeface="Cambria"/>
                <a:ea typeface="Cambria"/>
              </a:rPr>
              <a:t>~80% ±5–6%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4526280" y="42519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honest, on 10 materials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8046720" y="3291840"/>
            <a:ext cx="3428640" cy="155412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8229600" y="347472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b0a6"/>
                </a:solidFill>
                <a:latin typeface="Cambria"/>
                <a:ea typeface="Cambria"/>
              </a:rPr>
              <a:t>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8229600" y="42519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fe3ee"/>
                </a:solidFill>
                <a:latin typeface="Calibri"/>
                <a:ea typeface="Calibri"/>
              </a:rPr>
              <a:t>PLA cross-confusions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640080" y="512064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ee"/>
                </a:solidFill>
                <a:latin typeface="Calibri"/>
                <a:ea typeface="Calibri"/>
              </a:rPr>
              <a:t>The result is a complete, self-aware answer to the research question — bounded by data scale, not by method.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640080" y="6126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Amr Magdy Mohamed Elsayed Abdalla</a:t>
            </a:r>
            <a:r>
              <a:rPr b="0" lang="en-US" sz="1300" spc="-1" strike="noStrike">
                <a:solidFill>
                  <a:srgbClr val="6b8497"/>
                </a:solidFill>
                <a:latin typeface="Arial"/>
                <a:ea typeface="Arial"/>
              </a:rPr>
              <a:t>   ·   S8082888   ·  / COGAR C2b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2026-06-26T13:09:37Z</dcterms:created>
  <dc:creator>Amr Magdy Mohamed Elsayed Abdalla</dc:creator>
  <dc:description/>
  <dc:language>en-US</dc:language>
  <cp:lastModifiedBy/>
  <dcterms:modified xsi:type="dcterms:W3CDTF">2026-06-26T15:13:35Z</dcterms:modified>
  <cp:revision>3</cp:revision>
  <dc:subject>PptxGenJS Presentation</dc:subject>
  <dc:title>Tactile Material Classification from Deformation and Shear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